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Mutual Fund Analytics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Capstone Project - Bluestock Fintech</a:t>
            </a:r>
          </a:p>
          <a:p>
            <a:r>
              <a:t>40 Schemes | 46k+ NAV Records | 32k+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Objective: Build an end-to-end mutual fund analytics platform.</a:t>
            </a:r>
          </a:p>
          <a:p>
            <a:pPr lvl="1"/>
            <a:r>
              <a:t>Data Scale: 40 AMFI codes, 10 AMCs, 3-year historical data.</a:t>
            </a:r>
          </a:p>
          <a:p>
            <a:pPr lvl="1"/>
            <a:r>
              <a:t>Features: ETL Pipeline, Star Schema, Analytical Queries, Interactive Dashboard.</a:t>
            </a:r>
          </a:p>
          <a:p>
            <a:pPr lvl="1"/>
            <a:r>
              <a:t>Bonus: Auth Gateway, Fund Recommender, PowerBI Connector, Landing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Pipeline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ETL: Raw CSV + API → Pandas → PostgreSQL (Neon Cloud)</a:t>
            </a:r>
          </a:p>
          <a:p>
            <a:pPr lvl="1"/>
            <a:r>
              <a:t>Star Schema: dim_fund, dim_date → fact_nav, fact_transactions, etc.</a:t>
            </a:r>
          </a:p>
          <a:p>
            <a:pPr lvl="1"/>
            <a:r>
              <a:t>Auth: FastAPI + Google OAuth 2.0 + JWT Tokens</a:t>
            </a:r>
          </a:p>
          <a:p>
            <a:pPr lvl="1"/>
            <a:r>
              <a:t>Dashboard: Streamlit + Plotly (6 interactive pages)</a:t>
            </a:r>
          </a:p>
          <a:p>
            <a:pPr lvl="1"/>
            <a:r>
              <a:t>Landing: React + Vite + TailwindCSS with shader animations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Overview &amp;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Equity AUM growth: +41% (2023-2025)</a:t>
            </a:r>
          </a:p>
          <a:p>
            <a:pPr lvl="1"/>
            <a:r>
              <a:t>SIP milestone: Rs. 31,002 Cr monthly inflows (Dec 2025)</a:t>
            </a:r>
          </a:p>
          <a:p>
            <a:pPr lvl="1"/>
            <a:r>
              <a:t>Folio growth: 2.1x expansion in total industry folios</a:t>
            </a:r>
          </a:p>
          <a:p>
            <a:pPr lvl="1"/>
            <a:r>
              <a:t>Mid-Cap alpha: +3.2% outperformance vs Large-Cap (3Y)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NAV Trend Lines</a:t>
            </a:r>
          </a:p>
        </p:txBody>
      </p:sp>
      <p:pic>
        <p:nvPicPr>
          <p:cNvPr id="4" name="Picture 3" descr="01_NAV_Trend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Fund Performance &amp;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Computed: Sharpe Ratio, Sortino Ratio, Alpha, Beta for all 40 schemes</a:t>
            </a:r>
          </a:p>
          <a:p>
            <a:pPr lvl="1"/>
            <a:r>
              <a:t>Maximum Drawdown analysis with peak, trough, and recovery dates</a:t>
            </a:r>
          </a:p>
          <a:p>
            <a:pPr lvl="1"/>
            <a:r>
              <a:t>VaR (95%) and CVaR (Expected Shortfall) computed for tail risk</a:t>
            </a:r>
          </a:p>
          <a:p>
            <a:pPr lvl="1"/>
            <a:r>
              <a:t>Direct plans consistently outperform Regular plans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AUM Growth by AMC</a:t>
            </a:r>
          </a:p>
        </p:txBody>
      </p:sp>
      <p:pic>
        <p:nvPicPr>
          <p:cNvPr id="4" name="Picture 3" descr="02_AUM_Growth_by_A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SIP Inflow Trend</a:t>
            </a:r>
          </a:p>
        </p:txBody>
      </p:sp>
      <p:pic>
        <p:nvPicPr>
          <p:cNvPr id="4" name="Picture 3" descr="03_SIP_Inflow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8782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Investor Demographics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SIP dominates for 25-35 age group</a:t>
            </a:r>
          </a:p>
          <a:p>
            <a:pPr lvl="1"/>
            <a:r>
              <a:t>T30 cities: ~70% of transaction volume</a:t>
            </a:r>
          </a:p>
          <a:p>
            <a:pPr lvl="1"/>
            <a:r>
              <a:t>KYC compliance rate: &gt;95% across all tiers</a:t>
            </a:r>
          </a:p>
          <a:p>
            <a:pPr lvl="1"/>
            <a:r>
              <a:t>Top states: Maharashtra, Karnataka, Delhi NCR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Cross-Fund Correlation Matrix</a:t>
            </a:r>
          </a:p>
        </p:txBody>
      </p:sp>
      <p:pic>
        <p:nvPicPr>
          <p:cNvPr id="4" name="Picture 3" descr="08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Fund Scorecard &amp; Recommender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Composite Score (0-100): weighted rank across 5 dimensions</a:t>
            </a:r>
          </a:p>
          <a:p>
            <a:pPr lvl="1"/>
            <a:r>
              <a:t>30% CAGR 3Y + 25% Sharpe + 20% Alpha + 15% Expense + 10% Drawdown</a:t>
            </a:r>
          </a:p>
          <a:p>
            <a:pPr lvl="1"/>
            <a:r>
              <a:t>Risk-based filtering: Low / Moderate / High</a:t>
            </a:r>
          </a:p>
          <a:p>
            <a:pPr lvl="1"/>
            <a:r>
              <a:t>Interactive radar chart comparison of top recommendations</a:t>
            </a:r>
          </a:p>
          <a:p>
            <a:pPr lvl="1"/>
            <a:r>
              <a:t>Projected returns calculator (SIP &amp; Lumpsum modes)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All capstone requirements fulfilled with bonus features</a:t>
            </a:r>
          </a:p>
          <a:p>
            <a:pPr lvl="1"/>
            <a:r>
              <a:t>Production-grade authentication with Google OAuth 2.0</a:t>
            </a:r>
          </a:p>
          <a:p>
            <a:pPr lvl="1"/>
            <a:r>
              <a:t>Future: Real-time streaming, ML predictions, portfolio optimization</a:t>
            </a:r>
          </a:p>
          <a:p>
            <a:pPr lvl="1"/>
            <a:r>
              <a:t>Future: Mobile PWA, automated monthly email reports</a:t>
            </a:r>
          </a:p>
          <a:p>
            <a:pPr lvl="1"/>
            <a:r>
              <a:t>Disclaimer: Past performance != future returns. Consult a SEBI advisor.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